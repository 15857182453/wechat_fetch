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3"/>
    <p:sldMasterId id="2147483666" r:id="rId4"/>
    <p:sldMasterId id="2147483677" r:id="rId5"/>
    <p:sldMasterId id="2147483688" r:id="rId6"/>
  </p:sldMasterIdLst>
  <p:notesMasterIdLst>
    <p:notesMasterId r:id="rId8"/>
  </p:notesMasterIdLst>
  <p:sldIdLst>
    <p:sldId id="290" r:id="rId7"/>
    <p:sldId id="308" r:id="rId9"/>
    <p:sldId id="311" r:id="rId10"/>
    <p:sldId id="312" r:id="rId11"/>
    <p:sldId id="313" r:id="rId12"/>
    <p:sldId id="314" r:id="rId13"/>
    <p:sldId id="315" r:id="rId14"/>
    <p:sldId id="316" r:id="rId15"/>
    <p:sldId id="310" r:id="rId16"/>
    <p:sldId id="301" r:id="rId17"/>
  </p:sldIdLst>
  <p:sldSz cx="9144000" cy="5143500" type="screen16x9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2" userDrawn="1">
          <p15:clr>
            <a:srgbClr val="A4A3A4"/>
          </p15:clr>
        </p15:guide>
        <p15:guide id="2" pos="28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98" d="100"/>
          <a:sy n="98" d="100"/>
        </p:scale>
        <p:origin x="558" y="84"/>
      </p:cViewPr>
      <p:guideLst>
        <p:guide orient="horz" pos="1592"/>
        <p:guide pos="28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97205" y="365125"/>
            <a:ext cx="2907665" cy="361315"/>
          </a:xfrm>
        </p:spPr>
        <p:txBody>
          <a:bodyPr/>
          <a:lstStyle>
            <a:lvl1pPr>
              <a:defRPr sz="1800"/>
            </a:lvl1pPr>
          </a:lstStyle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rotWithShape="1">
          <a:blip r:embed="rId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506730" y="377190"/>
            <a:ext cx="2002790" cy="433070"/>
          </a:xfrm>
        </p:spPr>
        <p:txBody>
          <a:bodyPr/>
          <a:lstStyle>
            <a:lvl1pPr>
              <a:defRPr sz="1800"/>
            </a:lvl1pPr>
          </a:lstStyle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XXXXX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876"/>
            <a:ext cx="6858000" cy="1790921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862"/>
            <a:ext cx="6858000" cy="124197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462"/>
            <a:ext cx="7886700" cy="213981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3442522"/>
            <a:ext cx="7886700" cy="112527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388"/>
            <a:ext cx="3886200" cy="326390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78"/>
            <a:ext cx="7886700" cy="9942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333993"/>
            <a:ext cx="3655181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1999281"/>
            <a:ext cx="3655181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993"/>
            <a:ext cx="3673182" cy="618010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281"/>
            <a:ext cx="3673182" cy="264353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42"/>
            <a:ext cx="3124012" cy="120029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342943"/>
            <a:ext cx="4629150" cy="4053388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1543240"/>
            <a:ext cx="3124012" cy="2859044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78"/>
            <a:ext cx="1971675" cy="43594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273878"/>
            <a:ext cx="5800725" cy="43594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273878"/>
            <a:ext cx="7886700" cy="435941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3.jpe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16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2" Type="http://schemas.openxmlformats.org/officeDocument/2006/relationships/theme" Target="../theme/theme3.xml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8.xml"/><Relationship Id="rId12" Type="http://schemas.openxmlformats.org/officeDocument/2006/relationships/theme" Target="../theme/theme4.xml"/><Relationship Id="rId11" Type="http://schemas.openxmlformats.org/officeDocument/2006/relationships/image" Target="../media/image3.jpeg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Relationship Id="rId3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8.xml"/><Relationship Id="rId13" Type="http://schemas.openxmlformats.org/officeDocument/2006/relationships/theme" Target="../theme/theme5.xml"/><Relationship Id="rId12" Type="http://schemas.openxmlformats.org/officeDocument/2006/relationships/image" Target="../media/image3.jpeg"/><Relationship Id="rId11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7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第一部分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1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0">
          <a:blip r:embed="rId12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78"/>
            <a:ext cx="7886700" cy="9942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388"/>
            <a:ext cx="7886700" cy="3263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851"/>
            <a:ext cx="30861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851"/>
            <a:ext cx="2057400" cy="2738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764984" y="2065655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本周</a:t>
            </a:r>
            <a:r>
              <a:rPr lang="zh-CN" altLang="en-US" sz="32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工作总结及下周计划</a:t>
            </a:r>
            <a:endParaRPr lang="zh-CN" altLang="en-US" sz="32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67071" y="2685235"/>
            <a:ext cx="1605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汇报人：杨恺瑞</a:t>
            </a:r>
            <a:endParaRPr lang="en-US" altLang="zh-CN" sz="1600" dirty="0">
              <a:solidFill>
                <a:schemeClr val="bg1"/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73564" y="1143273"/>
            <a:ext cx="7161482" cy="31229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各位同事：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为了了解大家进入公司后的状态，帮助大家快速地进入工作状态，自入职起，请各位同事将每周的工作周报抄送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给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杨宣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志杨总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一份，具体要求如下：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、周报模版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此</a:t>
            </a:r>
            <a:r>
              <a:rPr lang="zh-CN" altLang="en-US" sz="1400" dirty="0" smtClean="0">
                <a:latin typeface="微软雅黑" panose="020B0503020204020204" charset="-122"/>
                <a:ea typeface="微软雅黑" panose="020B0503020204020204" charset="-122"/>
              </a:rPr>
              <a:t>份为周报通用模板，</a:t>
            </a:r>
            <a:r>
              <a:rPr lang="zh-CN" altLang="en-US" sz="1400" b="1" dirty="0">
                <a:latin typeface="微软雅黑" panose="020B0503020204020204" charset="-122"/>
                <a:ea typeface="微软雅黑" panose="020B0503020204020204" charset="-122"/>
              </a:rPr>
              <a:t>如所在部门已有使用模版，则使用部门模板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、提交时间：每周日中午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12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点之前提交，不得延后；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、提交邮箱：</a:t>
            </a:r>
            <a:r>
              <a:rPr lang="zh-CN" sz="1400" b="1" u="none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发送带教人、部门领导，抄送杨宣志、秦荣花、李爽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  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、周报文件请用“工作周报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所在部门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姓名</a:t>
            </a:r>
            <a:r>
              <a:rPr lang="en-US" altLang="zh-CN" sz="1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日期”，以便识别。转正后发送部门领导即可；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微软雅黑" panose="020B0503020204020204" charset="-122"/>
                <a:ea typeface="微软雅黑" panose="020B0503020204020204" charset="-122"/>
              </a:rPr>
              <a:t>    特此通知，并祝工作顺利！</a:t>
            </a:r>
            <a:endParaRPr lang="zh-CN" altLang="en-US" sz="1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640080" y="201295"/>
            <a:ext cx="4373245" cy="519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本周数据</a:t>
            </a:r>
            <a:r>
              <a:rPr lang="zh-CN" altLang="en-US"/>
              <a:t>趋势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8140" y="1691640"/>
            <a:ext cx="8532495" cy="24358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52450" y="183515"/>
            <a:ext cx="3745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本周流水</a:t>
            </a:r>
            <a:r>
              <a:rPr lang="zh-CN" altLang="en-US"/>
              <a:t>数据</a:t>
            </a:r>
            <a:endParaRPr lang="zh-CN" altLang="en-US"/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52450" y="957580"/>
          <a:ext cx="8194675" cy="3928745"/>
        </p:xfrm>
        <a:graphic>
          <a:graphicData uri="http://schemas.openxmlformats.org/drawingml/2006/table">
            <a:tbl>
              <a:tblPr/>
              <a:tblGrid>
                <a:gridCol w="330200"/>
                <a:gridCol w="332105"/>
                <a:gridCol w="386715"/>
                <a:gridCol w="372110"/>
                <a:gridCol w="330835"/>
                <a:gridCol w="401955"/>
                <a:gridCol w="330835"/>
                <a:gridCol w="331470"/>
                <a:gridCol w="331470"/>
                <a:gridCol w="379095"/>
                <a:gridCol w="331470"/>
                <a:gridCol w="330835"/>
                <a:gridCol w="330200"/>
                <a:gridCol w="332105"/>
                <a:gridCol w="331470"/>
                <a:gridCol w="330835"/>
                <a:gridCol w="331470"/>
                <a:gridCol w="330200"/>
                <a:gridCol w="271780"/>
                <a:gridCol w="394335"/>
                <a:gridCol w="313055"/>
                <a:gridCol w="434975"/>
                <a:gridCol w="605155"/>
              </a:tblGrid>
              <a:tr h="119380">
                <a:tc gridSpan="2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每日新增流水详情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DBDBDB"/>
                    </a:solidFill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日期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咨询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复诊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/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护理（医疗类相关业务）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处方服务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便捷购药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自营体检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自营健管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第三方服务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心理咨询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支付类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会员服务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在线商城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rowSpan="2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日总流水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万元</a:t>
                      </a:r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日总流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水增量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 gridSpan="2">
                  <a:txBody>
                    <a:bodyPr/>
                    <a:p>
                      <a:pPr algn="ctr" fontAlgn="ctr"/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日总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b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环比</a:t>
                      </a:r>
                      <a:endParaRPr lang="zh-CN" altLang="en-US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E822F"/>
                    </a:solidFill>
                  </a:tcPr>
                </a:tc>
                <a:tc rowSpan="3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</a:tr>
              <a:tr h="271145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</a:tr>
              <a:tr h="0"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订单</a:t>
                      </a:r>
                      <a:endParaRPr lang="zh-CN" altLang="en-US" sz="4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1445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53,935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3682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39,693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8,564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99,634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1,777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18,856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-16%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14,959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45,850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3097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35,923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9,091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71,888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38,325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2,134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9,361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-18%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14,881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47,526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3357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29,075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73,876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31,814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1,459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12,753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88,323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6814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20,589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3,507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73,767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4,881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12,717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70,188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24,749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8,712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55,628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2,808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54,517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3358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33,586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13,084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84,692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25,000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12,315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2,438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18,893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55,870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71,296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7,091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67,724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54,535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8,957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20,061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16,048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49,153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2642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41,418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6,789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62,180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39,856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20,687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9,202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15,718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57,688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3178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49,968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5,660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71,853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36,900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7,016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9,305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41,939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2402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48,706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5,258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74,923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24,487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10,912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13,566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763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37,642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2189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33,137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3,050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70,893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44,100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6,009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13,287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41,707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7,695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49,973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59,980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7,774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17,380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50,377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51,385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5,984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62,337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66,551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19,811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17,080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46,344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60,331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5,290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80,143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49,122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35,748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6,705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16,855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45,539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2659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58,985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23,877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92,803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46,000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30,515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7,868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13,153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40,440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1799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61,462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36,087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65,443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44,543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11,458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7,297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35,920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2342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56,963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2,760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85,119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38,580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15,010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14,735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31,909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1938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33,385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7,474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65,452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4,722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2,041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14,502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34,926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27,659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10,891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60,797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48,600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7,598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4,286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15,467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792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37,511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2295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53,703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24,333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68,766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56,018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11,098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33,585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15,570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36,042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72,295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23,321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92,730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48,504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13,635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9,017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17,455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34,831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39,494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193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86,828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34,500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27,806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14,410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-16%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771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32,301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1896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51,430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2,002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86,133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45,700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15,023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6,326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15,363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25,020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34,902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3,148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78,133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39,016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30,925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18,223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-4%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13,981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27,169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39,049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4,602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64,271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38,400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14,670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17,092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16,485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26,561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1646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41,093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8,658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47,311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48,900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7,260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6,600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-7%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17,696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870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28,855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1726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69,224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5,434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79,028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41,728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28,988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11,154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17,315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828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26,051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1661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39,432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203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21,240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83,105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136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37,661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18,671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81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11,127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-10%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月</a:t>
                      </a:r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</a:t>
                      </a:r>
                      <a:r>
                        <a:rPr lang="zh-CN" altLang="en-US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日</a:t>
                      </a:r>
                      <a:endParaRPr lang="zh-CN" altLang="en-US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13,925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715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28,253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1773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31,968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16,021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98,183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160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35,300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105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12,526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69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14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26,089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37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26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3%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61620"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总计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1,734,080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88,348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5,606,778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299,821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4,696,382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17,585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1,182,411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12,414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8,146,034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15,793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3,830,064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11,587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1,524,730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6,187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22,953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1,143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1,254,960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300" b="0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2,312 </a:t>
                      </a:r>
                      <a:endParaRPr lang="en-US" altLang="zh-CN" sz="300" b="0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截止昨天总流水</a:t>
                      </a:r>
                      <a:b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</a:br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（万元）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p>
                      <a:pPr algn="ct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2790 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7955">
                <a:tc rowSpan="2"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流水汇总</a:t>
                      </a:r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(</a:t>
                      </a:r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万元</a:t>
                      </a:r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)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173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561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470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118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815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383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152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 rowSpan="2" gridSpan="2"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125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 rowSpan="2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本月总流水（万元）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742 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上月环比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-17.74%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  <a:tr h="15748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去年同期总流水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2172 </a:t>
                      </a:r>
                      <a:endParaRPr lang="en-US" altLang="zh-CN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zh-CN" altLang="en-US" sz="4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总流水同比</a:t>
                      </a:r>
                      <a:endParaRPr lang="zh-CN" altLang="en-US" sz="4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500" b="1" i="0">
                          <a:solidFill>
                            <a:srgbClr val="000000"/>
                          </a:solidFill>
                          <a:latin typeface="等线" panose="02010600030101010101" charset="-122"/>
                          <a:ea typeface="等线" panose="02010600030101010101" charset="-122"/>
                        </a:rPr>
                        <a:t>28%</a:t>
                      </a:r>
                      <a:endParaRPr lang="en-US" altLang="zh-CN" sz="500" b="1" i="0">
                        <a:solidFill>
                          <a:srgbClr val="000000"/>
                        </a:solidFill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6667" marR="6667" marT="666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9CBA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581660" y="177800"/>
            <a:ext cx="41757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本周流水</a:t>
            </a:r>
            <a:r>
              <a:rPr lang="zh-CN" altLang="en-US"/>
              <a:t>数据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30" y="931545"/>
            <a:ext cx="8621395" cy="398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</a:t>
            </a:r>
            <a:r>
              <a:rPr lang="zh-CN" altLang="en-US"/>
              <a:t>数据总结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1280795"/>
            <a:ext cx="8049895" cy="32169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</a:t>
            </a:r>
            <a:r>
              <a:rPr lang="zh-CN" altLang="en-US"/>
              <a:t>数据总结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765" y="1059180"/>
            <a:ext cx="8078470" cy="3565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703580" y="270510"/>
            <a:ext cx="3203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本周</a:t>
            </a:r>
            <a:r>
              <a:rPr lang="zh-CN" altLang="en-US"/>
              <a:t>数据总结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225" y="1017905"/>
            <a:ext cx="7747000" cy="3791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7855" y="339725"/>
            <a:ext cx="42087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一、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本周工作总结（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2025.4-27-4.30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354587" y="1054542"/>
          <a:ext cx="8377555" cy="3412490"/>
        </p:xfrm>
        <a:graphic>
          <a:graphicData uri="http://schemas.openxmlformats.org/drawingml/2006/table">
            <a:tbl>
              <a:tblPr/>
              <a:tblGrid>
                <a:gridCol w="323850"/>
                <a:gridCol w="478790"/>
                <a:gridCol w="807760"/>
                <a:gridCol w="2577830"/>
                <a:gridCol w="573932"/>
                <a:gridCol w="486383"/>
                <a:gridCol w="719847"/>
                <a:gridCol w="854075"/>
                <a:gridCol w="507338"/>
                <a:gridCol w="1047750"/>
              </a:tblGrid>
              <a:tr h="384810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x-none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序号</a:t>
                      </a:r>
                      <a:endParaRPr lang="en-US" altLang="x-none" sz="1000" b="1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zh-CN" altLang="en-US" sz="1000" b="1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分类</a:t>
                      </a:r>
                      <a:endParaRPr lang="zh-CN" altLang="en-US" sz="1000" b="1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任务名称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主要内容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工作目标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责任人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计划时间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实际时间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完成情况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备注：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  <a:p>
                      <a:pPr lvl="0" algn="ctr" defTabSz="914400" eaLnBrk="1" hangingPunct="1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（未完成原因）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0" marR="0" marT="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alpha val="50195"/>
                      </a:schemeClr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1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1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业务对账数据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下载业务数据</a:t>
                      </a:r>
                      <a:r>
                        <a:rPr lang="en-US" altLang="zh-CN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 </a:t>
                      </a: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统计各个</a:t>
                      </a:r>
                      <a:r>
                        <a:rPr lang="zh-CN" altLang="en-US" sz="1100" b="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endParaRPr lang="zh-CN" altLang="en-US" sz="1100" b="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2025.4-27-4.30</a:t>
                      </a:r>
                      <a:endParaRPr lang="en-US" altLang="zh-CN" sz="1050" b="1" dirty="0" smtClean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2025.4-27-4.30</a:t>
                      </a:r>
                      <a:endParaRPr lang="en-US" altLang="zh-CN" sz="1050" b="1" dirty="0" smtClean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400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2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2026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流水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数据</a:t>
                      </a: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总结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2025.4-27-4.30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eaLnBrk="1" hangingPunct="1">
                        <a:buNone/>
                      </a:pPr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2025.4-27-4.30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0969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3</a:t>
                      </a:r>
                      <a:endParaRPr lang="en-US" altLang="zh-CN" sz="1050" dirty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便捷购药</a:t>
                      </a:r>
                      <a:r>
                        <a:rPr lang="zh-CN" altLang="en-US" sz="1050" dirty="0">
                          <a:latin typeface="微软雅黑" panose="020B0503020204020204" charset="-122"/>
                          <a:ea typeface="微软雅黑" panose="020B0503020204020204" charset="-122"/>
                        </a:rPr>
                        <a:t>统计</a:t>
                      </a: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便捷购药专项数据</a:t>
                      </a: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分析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8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ctr" defTabSz="914400" eaLnBrk="1" hangingPunct="1"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404" marR="6404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2025.4-27-4.30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r>
                        <a:rPr lang="en-US" altLang="zh-CN" sz="1050" b="1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2025.4-27-4.30</a:t>
                      </a: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0069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4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86383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5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/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7261">
                <a:tc>
                  <a:txBody>
                    <a:bodyPr/>
                    <a:lstStyle/>
                    <a:p>
                      <a:pPr lvl="0" algn="ctr" defTabSz="914400" eaLnBrk="1" fontAlgn="ctr" hangingPunct="1">
                        <a:buNone/>
                      </a:pPr>
                      <a:r>
                        <a:rPr lang="en-US" altLang="zh-CN" sz="1050" dirty="0" smtClean="0">
                          <a:latin typeface="微软雅黑" panose="020B0503020204020204" charset="-122"/>
                          <a:ea typeface="微软雅黑" panose="020B0503020204020204" charset="-122"/>
                          <a:sym typeface="Calibri" panose="020F0502020204030204" pitchFamily="34" charset="0"/>
                        </a:rPr>
                        <a:t>6</a:t>
                      </a:r>
                      <a:endParaRPr lang="en-US" altLang="zh-CN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Calibri" panose="020F0502020204030204" pitchFamily="34" charset="0"/>
                      </a:endParaRPr>
                    </a:p>
                  </a:txBody>
                  <a:tcPr marL="3744" marR="3744" marT="3740" marB="0"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50" dirty="0" smtClean="0">
                          <a:latin typeface="微软雅黑" panose="020B0503020204020204" charset="-122"/>
                          <a:ea typeface="微软雅黑" panose="020B0503020204020204" charset="-122"/>
                        </a:rPr>
                        <a:t>常规</a:t>
                      </a: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vl="0" algn="l" defTabSz="914400" eaLnBrk="1" hangingPunct="1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1050" dirty="0" smtClean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90009" marR="90009" marT="6479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latinLnBrk="0" hangingPunct="1">
                        <a:buNone/>
                      </a:pPr>
                      <a:endParaRPr lang="zh-CN" altLang="en-US" sz="1050" kern="1200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+mn-cs"/>
                      </a:endParaRPr>
                    </a:p>
                  </a:txBody>
                  <a:tcPr marL="3744" marR="3744" marT="3786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zh-CN" altLang="en-US" sz="1050" dirty="0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744" marR="3744" marT="376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l="-2000" t="-3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556*290"/>
  <p:tag name="TABLE_ENDDRAG_RECT" val="132*94*556*29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4285</Words>
  <Application>WPS 演示</Application>
  <PresentationFormat>全屏显示(16:9)</PresentationFormat>
  <Paragraphs>1750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10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思源黑体 CN Bold</vt:lpstr>
      <vt:lpstr>黑体</vt:lpstr>
      <vt:lpstr>等线</vt:lpstr>
      <vt:lpstr>Calibri</vt:lpstr>
      <vt:lpstr>Arial Unicode MS</vt:lpstr>
      <vt:lpstr>Calibri Light</vt:lpstr>
      <vt:lpstr>思源黑体 CN Bold</vt:lpstr>
      <vt:lpstr>清雅黑体</vt:lpstr>
      <vt:lpstr>Office 主题</vt:lpstr>
      <vt:lpstr>3_自定义设计方案</vt:lpstr>
      <vt:lpstr>2_自定义设计方案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ykr</cp:lastModifiedBy>
  <cp:revision>13</cp:revision>
  <dcterms:created xsi:type="dcterms:W3CDTF">2024-07-22T07:27:00Z</dcterms:created>
  <dcterms:modified xsi:type="dcterms:W3CDTF">2026-04-30T02:31:19Z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KSORubyTemplateID">
    <vt:lpwstr>2</vt:lpwstr>
  </property>
  <property fmtid="{D5CDD505-2E9C-101B-9397-08002B2CF9AE}" pid="4" name="ICV">
    <vt:lpwstr/>
  </property>
</Properties>
</file>